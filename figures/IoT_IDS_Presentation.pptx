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C2-4170-9582-737158F16918}"/>
              </c:ext>
            </c:extLst>
          </c:dPt>
          <c:dPt>
            <c:idx val="1"/>
            <c:invertIfNegative val="0"/>
            <c:bubble3D val="0"/>
            <c:spPr>
              <a:solidFill>
                <a:srgbClr val="F6AD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C2-4170-9582-737158F16918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C2-4170-9582-737158F16918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C2-4170-9582-737158F16918}"/>
              </c:ext>
            </c:extLst>
          </c:dPt>
          <c:dPt>
            <c:idx val="4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C2-4170-9582-737158F169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 IF
(No Scale, α=0.10)</c:v>
                </c:pt>
                <c:pt idx="1">
                  <c:v>RobustScaler Only
(α=0.10)</c:v>
                </c:pt>
                <c:pt idx="2">
                  <c:v>Optimised IF
(α=0.25, RS)</c:v>
                </c:pt>
                <c:pt idx="3">
                  <c:v>Ensemble IF
(M=5)</c:v>
                </c:pt>
                <c:pt idx="4">
                  <c:v>Supervised
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54.13</c:v>
                </c:pt>
                <c:pt idx="1">
                  <c:v>67.5</c:v>
                </c:pt>
                <c:pt idx="2">
                  <c:v>81.099999999999994</c:v>
                </c:pt>
                <c:pt idx="3">
                  <c:v>81.099999999999994</c:v>
                </c:pt>
                <c:pt idx="4">
                  <c:v>99.59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DC2-4170-9582-737158F169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 IF</c:v>
                </c:pt>
                <c:pt idx="1">
                  <c:v>Optimised IF</c:v>
                </c:pt>
                <c:pt idx="2">
                  <c:v>Ensemble IF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54.13</c:v>
                </c:pt>
                <c:pt idx="1">
                  <c:v>81.099999999999994</c:v>
                </c:pt>
                <c:pt idx="2">
                  <c:v>81.099999999999994</c:v>
                </c:pt>
                <c:pt idx="3">
                  <c:v>99.59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53-46EE-ADD4-BA264F0F8E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%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 IF</c:v>
                </c:pt>
                <c:pt idx="1">
                  <c:v>Optimised IF</c:v>
                </c:pt>
                <c:pt idx="2">
                  <c:v>Ensemble IF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43.05</c:v>
                </c:pt>
                <c:pt idx="1">
                  <c:v>82.97</c:v>
                </c:pt>
                <c:pt idx="2">
                  <c:v>82.97</c:v>
                </c:pt>
                <c:pt idx="3">
                  <c:v>99.5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53-46EE-ADD4-BA264F0F8ED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 %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 IF</c:v>
                </c:pt>
                <c:pt idx="1">
                  <c:v>Optimised IF</c:v>
                </c:pt>
                <c:pt idx="2">
                  <c:v>Ensemble IF</c:v>
                </c:pt>
                <c:pt idx="3">
                  <c:v>XGBoost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58.89</c:v>
                </c:pt>
                <c:pt idx="1">
                  <c:v>87.01</c:v>
                </c:pt>
                <c:pt idx="2">
                  <c:v>87.01</c:v>
                </c:pt>
                <c:pt idx="3">
                  <c:v>99.57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53-46EE-ADD4-BA264F0F8E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92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5303520"/>
            <a:ext cx="11841480" cy="155448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Deterministic-Probabilistic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Framework for Edge IoT Networks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Optimized Isolation Forests and Signature Fusion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Pretham N N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M.Tech, Computer Network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and Engineering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College of Engineering, Bengaluru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 S Guruprasad, Professor, Dept. of ISE, BMSCE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91440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914400"/>
            <a:ext cx="502920" cy="8229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11155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1671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965960"/>
            <a:ext cx="502920" cy="8229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21671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Preprocessing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5029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2186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Methodology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01752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017520"/>
            <a:ext cx="502920" cy="8229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32186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 Fusion Engine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69080"/>
            <a:ext cx="5029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297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2702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Container Hardening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406908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4069080"/>
            <a:ext cx="502920" cy="8229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297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42702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Analysis &amp; Edge Performance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512064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5120640"/>
            <a:ext cx="5029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5349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53218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Drift Detection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0" y="512064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5120640"/>
            <a:ext cx="502920" cy="8229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5349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95160" y="53218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Work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286000" cy="118872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15B+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Globally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914400"/>
            <a:ext cx="2286000" cy="118872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024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260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avg. signature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delay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914400"/>
            <a:ext cx="2286000" cy="1188720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024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— canonical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LAN threat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914400"/>
            <a:ext cx="2286000" cy="1188720"/>
          </a:xfrm>
          <a:prstGeom prst="rect">
            <a:avLst/>
          </a:prstGeom>
          <a:solidFill>
            <a:srgbClr val="1B4F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024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Gaps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467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Edge 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34747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77440"/>
            <a:ext cx="64008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80720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IDS: high precision on known threats but zero recall on zero-days.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ML-only models: broad generalization but unacceptable false-positive rates.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2377440"/>
            <a:ext cx="34747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0" y="2377440"/>
            <a:ext cx="64008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Gap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280720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hybrid IDS research targets cloud infrastructure. IoT requires edge-local processing for latency, bandwidth, and data privacy constraints.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237744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0" y="2377440"/>
            <a:ext cx="64008" cy="1417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2468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 Gap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280720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ML models degrade silently as traffic distributions evolve. No existing IoT IDS integrates MLOps drift detection with automated retraining.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069080"/>
            <a:ext cx="11430000" cy="594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Containerised Hybrid IDS on Raspberry Pi 4 — combining Zeek/Suricata + Isolation Forest Ensemble + XGBoost + Formal Score Fusion + MLOps Drift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 &amp; Research Gaps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IDS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4173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Kolias et al. (2017) — Mirai mechanics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Paxson (1999) — Zeek/Bro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Zarpelão et al. (2017) — IoT IDS survey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4747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Zero-day blind spot (14–28 day lag)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8046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14173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(2008, 2012) — Isolation Forest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1031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Hariri et al. (2021) — Extended IF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788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Şahin et al. (2021) — RobustScaler for IDS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34747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High FPR without confidence fusion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777240"/>
            <a:ext cx="27432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8046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27648" y="14173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Sharafaldin et al. (2018) — CICIDS2017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21031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Moustafa &amp; Slay (2015) — UNSW-NB15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2788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et al. (2020) — Hyperparameter opt.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34747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Label dependency, distribution shift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9720" y="777240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8046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Edge IDS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89720" y="12344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99448" y="14173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 (2016) — Edge computing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99448" y="21031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(2022) — IoT edge anomaly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99448" y="2788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et al. (2021) — Hybrid ML IDS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99448" y="34747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formal fusion + MLOps on ARM HW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5212080"/>
            <a:ext cx="116586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25780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Work fills ALL four gaps: Hybrid detection + ARM edge hardware + formal confidence fusion + PSI-based MLOps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Four-Layer Design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777240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822960"/>
            <a:ext cx="35661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21040" y="82296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845820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12070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· Sensors · Plugs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2057400"/>
            <a:ext cx="35661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21040" y="2057400"/>
            <a:ext cx="64008" cy="100584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1" name="Text 8"/>
          <p:cNvSpPr/>
          <p:nvPr/>
        </p:nvSpPr>
        <p:spPr>
          <a:xfrm>
            <a:off x="845820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58200" y="2441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 (Pi 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libpcap · eBPF · Zeek · Suricata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3291840"/>
            <a:ext cx="35661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21040" y="3291840"/>
            <a:ext cx="6400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3675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(Docker)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gRPC · IF + XGBoost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4526280"/>
            <a:ext cx="35661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4526280"/>
            <a:ext cx="64008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58200" y="4910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 · ES · Kibana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21-Feature Taxonomy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14884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148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3716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src_port  P_src ∈ [0,65535]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121408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dst_port  P_dst ∈ [0,65535]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871216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 T_flow = t_end−t_start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621024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src_bytes / dst_bytes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334256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370832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src_pkts / dst_pkts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06040" y="777240"/>
            <a:ext cx="2148840" cy="4572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804672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1234440"/>
            <a:ext cx="2148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15768" y="13716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total_bytes = B_sent + B_recv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97480" y="2084832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2121408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total_packets = N_sent + N_recv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777240"/>
            <a:ext cx="21488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804672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Metrics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234440"/>
            <a:ext cx="2148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47488" y="13716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bytes_ratio = B_sent/(B_recv+ε)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2084832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121408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packets_ratio = N_sent/(N_recv+ε)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0" y="2834640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871216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bytes_per_packet_src / dst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3584448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621024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port_ratio = P_src/(P_dst+ε)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69480" y="777240"/>
            <a:ext cx="21488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804672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Metrics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148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79208" y="13716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bytes_per_second = B_total/(T+ε)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60920" y="2084832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9208" y="2121408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packets_per_second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60920" y="2834640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9208" y="2871216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avg_packet_size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601200" y="777240"/>
            <a:ext cx="21488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0" y="804672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Binary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601200" y="1234440"/>
            <a:ext cx="21488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710928" y="13716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log_duration = ln(T_flow+1)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92640" y="2084832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10928" y="2121408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log_total_bytes = ln(B_total+1)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692640" y="2834640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10928" y="2871216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sqrt_total_packets = √N_total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692640" y="3584448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10928" y="3621024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is_well_known_src/dst_port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692640" y="4334256"/>
            <a:ext cx="1965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10928" y="4370832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tcp_flags_count / has_dns / has_http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74320" y="5806440"/>
            <a:ext cx="1165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1×10⁻⁸ floor prevents division-by-zero  |  Log &amp; sqrt transforms stabilise skewed IoT traffic distributions  |  Binary indicators capture port privilege context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Scaler Comparative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6576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36576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412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383280" cy="8686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− μ) / 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streams inflate σ, compressing normal traffic variance. Benign flows misclassified as anomalies.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8795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822960"/>
            <a:ext cx="36576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822960"/>
            <a:ext cx="365760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8412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1463040"/>
            <a:ext cx="3383280" cy="8686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(x − x_min) / (x_max − x_min)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514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 DDoS flow collapses all normal traffic metrics toward zero. Extreme range sensitivity.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41605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418795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83880" y="822960"/>
            <a:ext cx="36576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822960"/>
            <a:ext cx="36576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8412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21040" y="1463040"/>
            <a:ext cx="3383280" cy="8686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508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(x − median) / IQR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IQR = Q3 − Q1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2514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to outlier values. Preserves normal traffic variance. Directly contributed +26.97% accuracy gain.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41080" y="41605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641080" y="418795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+26.97%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Isolation Forest Formulation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9436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0" cy="4572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59436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10512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s(x, n)  =  2^[ -E[h(x)] / c(n)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1.0 means anomalous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Normaliser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577840" cy="59436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82112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c(n)  =  2H(n−1) − 2(n−1)/n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BST search length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Approx.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5577840" cy="59436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553712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H(i)  ≈  ln(i) + 0.5772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Euler–Mascheroni constant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8229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822960"/>
            <a:ext cx="64008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914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Rare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125272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instances, statistically different from normal behaviour — isolated by fewer random binary partitions.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35440" y="8229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822960"/>
            <a:ext cx="64008" cy="2194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914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Path = Anomaly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72600" y="125272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flows reach leaf nodes in 2–4 splits. Normal flows require 8–15 splits. Score normalised to [0,1].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2918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3291840"/>
            <a:ext cx="64008" cy="21945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ψ) Complexity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29400" y="37216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Subsampled trees of size ψ give O(t·n·log ψ) time complexity. Suitable for ARM edge hardware at 1.8 GHz.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35440" y="32918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35440" y="3291840"/>
            <a:ext cx="64008" cy="2194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Required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72600" y="37216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unsupervised — detects zero-day threats without any labelled attack examples. Essential for IoT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Optimisation — Grid Search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41248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Space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029200" cy="56692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389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Searched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389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502920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842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984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{0.05, 0.10, 0.15, 0.20, 0.25, 0.30}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9842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5029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Samples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578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{0.5, 0.6, 0.7, 0.8, 0.9, 'auto'}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5786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502920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{50, 100, 200}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31729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5029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66160"/>
            <a:ext cx="64008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6576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α = 0.25?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995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IoT LANs under botnet exposure exhibit 20–30% ambient anomaly density — far higher than the enterprise default of 10%. Setting α=0.25 correctly sizes the decision boundary to this threat density.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937760"/>
            <a:ext cx="5029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937760"/>
            <a:ext cx="64008" cy="11887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max_samples = 0.9?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53675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traffic is highly repetitive (same device types repeat similar flows). Broad per-tree subsampling allows individual estimators to capture high-density behavioural clusters.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822960"/>
            <a:ext cx="612648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0720" y="822960"/>
            <a:ext cx="61264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841248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 from Optimisation</a:t>
            </a:r>
            <a:endParaRPr lang="en-US" sz="13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5943600" y="1371600"/>
          <a:ext cx="57607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Isolation Forest &amp; Supervised Classifiers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9436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41248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5 Diverse IF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943600" cy="53035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4173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5943600" cy="530352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842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9842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9842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19842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59736"/>
            <a:ext cx="5943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5511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55117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55117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25511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5511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26664"/>
            <a:ext cx="5943600" cy="530352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118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31181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1181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1181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118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93592"/>
            <a:ext cx="5943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6850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3685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3685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36850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685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160520"/>
            <a:ext cx="5943600" cy="530352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251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68880" y="42519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66160" y="4251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4251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937760"/>
            <a:ext cx="5943600" cy="9144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50109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Decision Rule: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1480" y="5303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ŷ_ensemble  =  𝕀( (1/5) × Σ ŷ_m  ≥  0.5 )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92240" y="822960"/>
            <a:ext cx="53949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841248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Classifiers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92240" y="13716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92240" y="1371600"/>
            <a:ext cx="539496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1417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629400" y="1874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 = 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29400" y="2130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 = 0.1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29400" y="23865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100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29400" y="26426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subsample = 0.8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29400" y="2898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colsample_bytree = 0.8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29400" y="3154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stopping on logloss (20% val. split)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06640" y="3200400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0891B2"/>
          </a:solidFill>
          <a:ln/>
        </p:spPr>
      </p:sp>
      <p:sp>
        <p:nvSpPr>
          <p:cNvPr id="57" name="Text 55"/>
          <p:cNvSpPr/>
          <p:nvPr/>
        </p:nvSpPr>
        <p:spPr>
          <a:xfrm>
            <a:off x="7406640" y="322783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99.59% Accuracy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92240" y="397764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92240" y="3977640"/>
            <a:ext cx="53949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0" name="Text 58"/>
          <p:cNvSpPr/>
          <p:nvPr/>
        </p:nvSpPr>
        <p:spPr>
          <a:xfrm>
            <a:off x="6492240" y="40233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629400" y="4480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iterations = 100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29400" y="4736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 = 0.1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629400" y="4992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depth = 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29400" y="52486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loss_function = Logloss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629400" y="55046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eval_metric = AUC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406640" y="5806440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67" name="Text 65"/>
          <p:cNvSpPr/>
          <p:nvPr/>
        </p:nvSpPr>
        <p:spPr>
          <a:xfrm>
            <a:off x="7406640" y="58338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for categorical fields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 Fusion Engine — Mathematical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108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12801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Engine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(Zeek / Suricata)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S_sig score + |R|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3108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51460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+ XGBoost)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S_ml = avg(A_p)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9144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822960"/>
            <a:ext cx="36576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822960"/>
            <a:ext cx="36576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8503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S_threat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w_sig × S_sig  +  w_ml × S_ml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w_sig=0.6,  w_ml=0.4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103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S_sig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min(1.0, max(c_i) + δ × (|R|−1))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0.05 multi-match boost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628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(1/|P|) × Σ A_p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26280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active model scores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C_base + Δ_sig + Δ_ml + Δ_extreme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26280" y="3794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[0,1]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46720" y="2651760"/>
            <a:ext cx="9144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82296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52560" y="822960"/>
            <a:ext cx="283464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9052560" y="85039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Verdict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89720" y="1417320"/>
            <a:ext cx="2560320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9189720" y="1463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9720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S_threat ≥ T_high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89720" y="2130552"/>
            <a:ext cx="2560320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9189720" y="21762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9720" y="2478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S_threat ≥ T_med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89720" y="2843784"/>
            <a:ext cx="2560320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9189720" y="28895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89720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S_threat ≥ T_low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89720" y="3557016"/>
            <a:ext cx="2560320" cy="6217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9189720" y="36027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89720" y="3904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800600"/>
            <a:ext cx="1165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T_low=0.3  ·  T_med=0.6  ·  T_high=0.8   →   thresholds dynamically adjusted by confidence 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Hardening &amp; MLOps Drift Detection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4864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41248"/>
            <a:ext cx="5486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Hardening (CIS Benchmark)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24688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Whitelist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cap_add: [NET_ADMIN, NET_RAW]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other capabilities DROPPED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46304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463040"/>
            <a:ext cx="2468880" cy="41148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Filesystem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993392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read_only: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tmpfs: [/run, /tmp]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24688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74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Block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security_opt: [no-new-privileges: true]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Prevents setuid binary escalation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0" y="342900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3429000"/>
            <a:ext cx="246888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3474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Inter-Service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959352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gRPC traffic encrypted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Mutual TLS certificate validation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822960"/>
            <a:ext cx="58521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841248"/>
            <a:ext cx="5852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Drift Detection Pipeline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5669280" cy="82296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4447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PSI  =  Σᵢ [ (P_actual,i − P_expected,i) × ln(P_actual,i / P_expected,i) 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377440"/>
            <a:ext cx="5669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377440"/>
            <a:ext cx="73152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2450592"/>
            <a:ext cx="1371600" cy="411480"/>
          </a:xfrm>
          <a:prstGeom prst="roundRect">
            <a:avLst>
              <a:gd name="adj" fmla="val 15556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&lt; 0.1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2880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performing normally.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767328"/>
            <a:ext cx="5669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767328"/>
            <a:ext cx="73152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3840480"/>
            <a:ext cx="1371600" cy="411480"/>
          </a:xfrm>
          <a:prstGeom prst="roundRect">
            <a:avLst>
              <a:gd name="adj" fmla="val 15556"/>
            </a:avLst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858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0.1–0.2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0" y="42702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drift detected.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5157216"/>
            <a:ext cx="5669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5157216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Shape 38"/>
          <p:cNvSpPr/>
          <p:nvPr/>
        </p:nvSpPr>
        <p:spPr>
          <a:xfrm>
            <a:off x="6263640" y="5230368"/>
            <a:ext cx="1371600" cy="411480"/>
          </a:xfrm>
          <a:prstGeom prst="roundRect">
            <a:avLst>
              <a:gd name="adj" fmla="val 15556"/>
            </a:avLst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5248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&gt; 0.2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5230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Decay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72400" y="566013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auto-retrain.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significantly shifted.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6492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Kolmogorov–Smirnov (KS) test  +  Jensen–Shannon (JS) divergence  •  Monitoring cadence: every 24 hours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56616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5661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5039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70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Cortex-A72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4-core @ 1.8 GHz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76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LPDDR4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434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782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Raspberry Pi 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822960"/>
            <a:ext cx="36576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822960"/>
            <a:ext cx="3657600" cy="4572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8503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1389888"/>
            <a:ext cx="3383280" cy="5029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4356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Python 3.10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1965960"/>
            <a:ext cx="3383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Scikit-learn 1.3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2542032"/>
            <a:ext cx="3383280" cy="5029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5877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XGBoost 1.7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51960" y="3118104"/>
            <a:ext cx="3383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31638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FastAPI 0.103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3694176"/>
            <a:ext cx="3383280" cy="5029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37398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Docker 24.0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4270248"/>
            <a:ext cx="3383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43159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Zeek  +  Suricata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51960" y="4846320"/>
            <a:ext cx="3383280" cy="5029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1" name="Text 29"/>
          <p:cNvSpPr/>
          <p:nvPr/>
        </p:nvSpPr>
        <p:spPr>
          <a:xfrm>
            <a:off x="4343400" y="48920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Elasticsearch 8.x  +  Kibana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822960"/>
            <a:ext cx="384048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0" y="822960"/>
            <a:ext cx="38404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85039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0" y="1417320"/>
            <a:ext cx="347472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0" y="1527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211,043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 Records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2697480"/>
            <a:ext cx="3474720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0" y="2807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822960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39776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Mirai Botnet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581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Port Scan Recon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4864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Volumetric DDoS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0" y="5148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Brute-Force SSH/Telnet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29600" y="5431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Benign Baseline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— Model Performance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32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+26.97%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(Baseline→Optimised IF)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1097280"/>
          </a:xfrm>
          <a:prstGeom prst="rect">
            <a:avLst/>
          </a:prstGeom>
          <a:solidFill>
            <a:srgbClr val="1B4F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32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+39.92%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743200" cy="109728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932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+28.12%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Gain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822960"/>
            <a:ext cx="274320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932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(Supervised)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11612880" cy="2377440"/>
        </p:xfrm>
        <a:graphic>
          <a:graphicData uri="http://schemas.openxmlformats.org/drawingml/2006/table">
            <a:tbl>
              <a:tblPr/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Isolation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(α=0.10, No Scale)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 Isolation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(α=0.25, RobustScaler)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Isolation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Vote (M=5, RobustScaler)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74320" y="4617720"/>
            <a:ext cx="11612880" cy="59436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5760" y="46817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— McNemar's Test:  χ² = 214.7  (p &lt; 0.0001)  |  95% CI for Optimised IF F1: [86.3%, 87.7%]  |  Bootstrap resampling n=1,000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 Performance &amp; Resource Footprint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92024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flows/sec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Throughput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822960"/>
            <a:ext cx="2651760" cy="1920240"/>
          </a:xfrm>
          <a:prstGeom prst="rect">
            <a:avLst/>
          </a:prstGeom>
          <a:solidFill>
            <a:srgbClr val="1B4F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&lt;0.15s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0896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084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Inference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Flow (Max Load)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822960"/>
            <a:ext cx="2651760" cy="192024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084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822960"/>
            <a:ext cx="2651760" cy="1920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MB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77824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084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 GB Available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(10.3% utilisation)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3017520"/>
          <a:ext cx="116128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6692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50392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66928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417320"/>
            <a:ext cx="64008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5448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traffic (TLS/QUIC) reduces feature diversity — payload-blind detection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5669280" cy="7315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240280"/>
            <a:ext cx="64008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7744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evasion: attacker aware of α=0.25 could craft flows to evade IF boundary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566928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0040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LAN (10 IoT devices) — larger multi-vendor deployments may differ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886200"/>
            <a:ext cx="5669280" cy="7315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886200"/>
            <a:ext cx="64008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02336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retraining required as novel attack families emerge for XGBoost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709160"/>
            <a:ext cx="566928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709160"/>
            <a:ext cx="64008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84632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5-tuple flow key — application-layer context not captured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822960"/>
            <a:ext cx="56692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850392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5669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417320"/>
            <a:ext cx="50292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276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148132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eBPF/XDP Acceleration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17830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Kernel-bypass processing targeting 10,000+ flows/sec on gigabit interfaces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240280"/>
            <a:ext cx="5669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240280"/>
            <a:ext cx="50292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450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230428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26060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distributed training across multiple edge gateways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3063240"/>
            <a:ext cx="5669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3063240"/>
            <a:ext cx="50292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3273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312724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34290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harden against crafted evasion flows using adversarial ML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3886200"/>
            <a:ext cx="5669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886200"/>
            <a:ext cx="50292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4096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12280" y="395020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&amp; NB-IoT Support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42519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Zeek decoders to cover emerging IoT communication protocols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7920" y="4709160"/>
            <a:ext cx="5669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4709160"/>
            <a:ext cx="50292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4919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12280" y="477316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/ SHAP Analysis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12280" y="50749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human-readable alert explanations using Shapley values on XGBoost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566160" cy="169164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80160"/>
            <a:ext cx="64008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389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Hybrid IDS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edge gateway integrating Zeek, Suricata, Isolation Forest ensemble, and XGBoost — first formally specified hybrid on ARM hardware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280160"/>
            <a:ext cx="3566160" cy="169164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280160"/>
            <a:ext cx="64008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1389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21-Feature Taxonomy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7830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derived feature set with ε-floor stabilisation, log/sqrt transforms, and binary IoT-specific indicators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1280160"/>
            <a:ext cx="3566160" cy="169164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280160"/>
            <a:ext cx="64008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389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06840" y="17830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raising IF accuracy 54.13% → 81.10% (+26.97 pp), statistically validated (χ²=214.7, p&lt;0.0001)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20240" y="3246120"/>
            <a:ext cx="3749040" cy="169164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3246120"/>
            <a:ext cx="64008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51760" y="33558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Score Fusion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749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Confidence-adjusted hybrid threat scoring with dynamic severity classification — reduces alert fatigue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246120"/>
            <a:ext cx="3749040" cy="169164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3246120"/>
            <a:ext cx="64008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6560" y="33558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MLOps Pipeline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749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+ KS + JS drift monitoring with automated retraining triggers — first IoT IDS with operational lifecycle governance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5212080"/>
            <a:ext cx="112471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276088"/>
            <a:ext cx="11064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demonstrates that production-grade hybrid IoT security with formal mathematical foundations is viable on constrained ARM edge hardware.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F. T. Liu, K. M. Ting, Z.-H. Zhou, "Isolation Forest," ICDM, 2008.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C. Kolias et al., "DDoS in the IoT: Mirai and other botnets," IEEE Computer, vol.50, 2017.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M. Antonakakis et al., "Understanding the Mirai Botnet," USENIX Security, 2017.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S. Hariri, M. C. Kind, R. J. Brunner, "Extended Isolation Forest," IEEE TKDE, 2021.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I. Sharafaldin et al., "CICIDS2017 dataset," ICISSP, 2018.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31546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N. Moustafa, J. Slay, "UNSW-NB15 dataset," MilCIS, 2015.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8686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T. Chen, C. Guestrin, "XGBoost," ACM SIGKDD, 2016.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13258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W. Shi et al., "Edge Computing: Vision and Challenges," IEEE IoT J., 2016.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T. Combe, A. Martin, R. Di Pietro, "To Docker or Not to Docker," IEEE Cloud Comput., 2016.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22402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J. Gama et al., "A Survey on Concept Drift Adaptation," ACM Comput. Surv., 2014.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A. M. Vieira et al., "Fast Packet Processing with eBPF and XDP," ACM Comput. Surv., 2020.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31546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A. Khraisat et al., "Survey of IDS: Techniques, Datasets and Challenges," Cybersecurity, 2019.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5961888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0" y="6400800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Pretham N N  |  preetham.scn24@bmsce.ac.in  |  Guide: Dr. H S Guruprasad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2550</Words>
  <Application>Microsoft Office PowerPoint</Application>
  <PresentationFormat>Widescreen</PresentationFormat>
  <Paragraphs>433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 POOJA NN  5.1</cp:lastModifiedBy>
  <cp:revision>2</cp:revision>
  <dcterms:created xsi:type="dcterms:W3CDTF">2026-05-29T09:59:26Z</dcterms:created>
  <dcterms:modified xsi:type="dcterms:W3CDTF">2026-05-29T13:04:04Z</dcterms:modified>
</cp:coreProperties>
</file>